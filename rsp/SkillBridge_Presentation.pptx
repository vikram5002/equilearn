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0d2fcedc-4bf7-1b6b-a2c2-42b0f711d7b9}">
          <p14:sldIdLst>
            <p14:sldId id="256"/>
            <p14:sldId id="257"/>
          </p14:sldIdLst>
        </p14:section>
        <p14:section name="System" id="{c432c0f1-185f-063f-a4ee-763fde623d18}">
          <p14:sldIdLst>
            <p14:sldId id="258"/>
            <p14:sldId id="259"/>
            <p14:sldId id="260"/>
          </p14:sldIdLst>
        </p14:section>
        <p14:section name="Methods" id="{2d26926e-9f75-d68f-16f7-7c66724863a5}">
          <p14:sldIdLst>
            <p14:sldId id="261"/>
            <p14:sldId id="262"/>
            <p14:sldId id="263"/>
          </p14:sldIdLst>
        </p14:section>
        <p14:section name="Results" id="{535500f9-5f0f-39f8-9614-3d725cc1bf8d}">
          <p14:sldIdLst>
            <p14:sldId id="264"/>
            <p14:sldId id="265"/>
          </p14:sldIdLst>
        </p14:section>
        <p14:section name="Conclusion" id="{68567c00-6827-1c5f-5f43-3d01f2395157}">
          <p14:sldIdLst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4142B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4142B"/>
                </a:solidFill>
                <a:latin typeface="+mn-lt"/>
              </a:rPr>
              <a:t>Top skills in 1,500 real LinkedIn postings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 of postings</c:v>
                </c:pt>
              </c:strCache>
            </c:strRef>
          </c:tx>
          <c:spPr>
            <a:solidFill>
              <a:srgbClr val="5B3DF5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4142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C</c:v>
                  </c:pt>
                  <c:pt idx="1">
                    <c:v>SQL</c:v>
                  </c:pt>
                  <c:pt idx="2">
                    <c:v>Teamwork</c:v>
                  </c:pt>
                  <c:pt idx="3">
                    <c:v>Agile</c:v>
                  </c:pt>
                  <c:pt idx="4">
                    <c:v>Problem Solving</c:v>
                  </c:pt>
                  <c:pt idx="5">
                    <c:v>Time Management</c:v>
                  </c:pt>
                  <c:pt idx="6">
                    <c:v>Leadership</c:v>
                  </c:pt>
                  <c:pt idx="7">
                    <c:v>Communication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3.5</c:v>
                </c:pt>
                <c:pt idx="1">
                  <c:v>4.1</c:v>
                </c:pt>
                <c:pt idx="2">
                  <c:v>5</c:v>
                </c:pt>
                <c:pt idx="3">
                  <c:v>5.9</c:v>
                </c:pt>
                <c:pt idx="4">
                  <c:v>6.5</c:v>
                </c:pt>
                <c:pt idx="5">
                  <c:v>7.1</c:v>
                </c:pt>
                <c:pt idx="6">
                  <c:v>22.5</c:v>
                </c:pt>
                <c:pt idx="7">
                  <c:v>48.6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14142B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4142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majorGridlines>
          <c:spPr>
            <a:ln w="6350" cap="flat">
              <a:solidFill>
                <a:srgbClr val="E4E2F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4142B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4142B"/>
                </a:solidFill>
                <a:latin typeface="+mn-lt"/>
              </a:rPr>
              <a:t>Real data: campus placement + LinkedIn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ROC AUC</c:v>
                </c:pt>
              </c:strCache>
            </c:strRef>
          </c:tx>
          <c:spPr>
            <a:solidFill>
              <a:srgbClr val="5B3DF5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4142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Logistic regression</c:v>
                  </c:pt>
                  <c:pt idx="1">
                    <c:v>XGBoost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0.947</c:v>
                </c:pt>
                <c:pt idx="1">
                  <c:v>0.896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0E9F6E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4142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Logistic regression</c:v>
                  </c:pt>
                  <c:pt idx="1">
                    <c:v>XGBoost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0.833</c:v>
                </c:pt>
                <c:pt idx="1">
                  <c:v>0.778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14142B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4142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1"/>
        <c:axPos val="l"/>
        <c:majorGridlines>
          <c:spPr>
            <a:ln w="6350" cap="flat">
              <a:solidFill>
                <a:srgbClr val="E4E2F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team and the one-line goal: use real job postings to tell each student what to learn and who needs help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TITLE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8036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SkillBridge Analytics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SkillBridge Analytics</a:t>
            </a: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8036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Skill-gap analysis and placement prediction from job-posting text</a:t>
            </a:r>
            <a:endParaRPr lang="en-US" sz="1600" dirty="0"/>
          </a:p>
          <a:p>
            <a:pPr algn="l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Vikram  ·  Jahnavy  ·  Jansi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Placement cells decide with old information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234440"/>
            <a:ext cx="2606040" cy="26517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1463040"/>
            <a:ext cx="457200" cy="45720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0574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Who is at risk?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69748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Spotted by intuition, student by student, late in the season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246120" y="1234440"/>
            <a:ext cx="2606040" cy="26517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9" name="Shape 7"/>
          <p:cNvSpPr/>
          <p:nvPr/>
        </p:nvSpPr>
        <p:spPr>
          <a:xfrm>
            <a:off x="3520440" y="1463040"/>
            <a:ext cx="457200" cy="45720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52044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3520440" y="20574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What should they learn?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3520440" y="269748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Advice comes from last year's recruiters, not today's postings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035040" y="1234440"/>
            <a:ext cx="2606040" cy="26517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14" name="Shape 12"/>
          <p:cNvSpPr/>
          <p:nvPr/>
        </p:nvSpPr>
        <p:spPr>
          <a:xfrm>
            <a:off x="6309360" y="1463040"/>
            <a:ext cx="457200" cy="45720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30936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309360" y="20574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What does the market want?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6309360" y="269748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Thousands of postings a week, all unstructured text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40690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1"/>
                </a:solidFill>
              </a:rPr>
              <a:t>Goal: turn job-posting text into a per-student action plan.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Five stages from raw postings to a decision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1499616" cy="2377440"/>
          </a:xfrm>
          <a:prstGeom prst="roundRect">
            <a:avLst>
              <a:gd name="adj" fmla="val 7317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978408" y="155448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78408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48840"/>
            <a:ext cx="1316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Ingest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606040"/>
            <a:ext cx="1280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LinkedIn / CSV / Kafka stream + student records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139696" y="1371600"/>
            <a:ext cx="1499616" cy="2377440"/>
          </a:xfrm>
          <a:prstGeom prst="roundRect">
            <a:avLst>
              <a:gd name="adj" fmla="val 7317"/>
            </a:avLst>
          </a:prstGeom>
          <a:solidFill>
            <a:schemeClr val="bg2"/>
          </a:solidFill>
          <a:ln/>
        </p:spPr>
      </p:sp>
      <p:sp>
        <p:nvSpPr>
          <p:cNvPr id="9" name="Shape 7"/>
          <p:cNvSpPr/>
          <p:nvPr/>
        </p:nvSpPr>
        <p:spPr>
          <a:xfrm>
            <a:off x="2660904" y="155448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660904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2231136" y="2148840"/>
            <a:ext cx="1316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Extract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249424" y="2606040"/>
            <a:ext cx="1280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spaCy matcher finds ~150 skills in text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822192" y="1371600"/>
            <a:ext cx="1499616" cy="2377440"/>
          </a:xfrm>
          <a:prstGeom prst="roundRect">
            <a:avLst>
              <a:gd name="adj" fmla="val 7317"/>
            </a:avLst>
          </a:prstGeom>
          <a:solidFill>
            <a:schemeClr val="bg2"/>
          </a:solidFill>
          <a:ln/>
        </p:spPr>
      </p:sp>
      <p:sp>
        <p:nvSpPr>
          <p:cNvPr id="14" name="Shape 12"/>
          <p:cNvSpPr/>
          <p:nvPr/>
        </p:nvSpPr>
        <p:spPr>
          <a:xfrm>
            <a:off x="4343400" y="155448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34340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3913632" y="2148840"/>
            <a:ext cx="1316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Feature store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3931920" y="2606040"/>
            <a:ext cx="1280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Demand per skill, gaps, alignment score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504688" y="1371600"/>
            <a:ext cx="1499616" cy="2377440"/>
          </a:xfrm>
          <a:prstGeom prst="roundRect">
            <a:avLst>
              <a:gd name="adj" fmla="val 7317"/>
            </a:avLst>
          </a:prstGeom>
          <a:solidFill>
            <a:schemeClr val="bg2"/>
          </a:solidFill>
          <a:ln/>
        </p:spPr>
      </p:sp>
      <p:sp>
        <p:nvSpPr>
          <p:cNvPr id="19" name="Shape 17"/>
          <p:cNvSpPr/>
          <p:nvPr/>
        </p:nvSpPr>
        <p:spPr>
          <a:xfrm>
            <a:off x="6025896" y="155448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025896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5596128" y="2148840"/>
            <a:ext cx="1316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Model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5614416" y="2606040"/>
            <a:ext cx="1280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LogReg vs XGBoost, best AUC wins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187184" y="1371600"/>
            <a:ext cx="1499616" cy="2377440"/>
          </a:xfrm>
          <a:prstGeom prst="roundRect">
            <a:avLst>
              <a:gd name="adj" fmla="val 7317"/>
            </a:avLst>
          </a:prstGeom>
          <a:solidFill>
            <a:schemeClr val="bg2"/>
          </a:solidFill>
          <a:ln/>
        </p:spPr>
      </p:sp>
      <p:sp>
        <p:nvSpPr>
          <p:cNvPr id="24" name="Shape 22"/>
          <p:cNvSpPr/>
          <p:nvPr/>
        </p:nvSpPr>
        <p:spPr>
          <a:xfrm>
            <a:off x="7708392" y="155448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708392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7278624" y="2148840"/>
            <a:ext cx="1316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Dashboard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7296912" y="2606040"/>
            <a:ext cx="1280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Student, cohort and market views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4023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Orchestrated by Apache Airflow  ·  Outputs archived in Amazon S3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Architecture</a:t>
            </a:r>
            <a:endParaRPr lang="en-US" sz="2800" dirty="0"/>
          </a:p>
        </p:txBody>
      </p:sp>
      <p:pic>
        <p:nvPicPr>
          <p:cNvPr id="3" name="Image 0" descr="D:\bda project\rsp\figures\fig1_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051560"/>
            <a:ext cx="7498080" cy="312724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251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Each stage reads the previous stage's output, so every stage can be tested on its own.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Big-data stack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2606040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13716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Apache Kafka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8288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Streams postings in; same extractor runs per message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46120" y="1188720"/>
            <a:ext cx="2606040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474720" y="13716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Apache Airflow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18288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4-task DAG, LocalExecutor, ~12 s per run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035040" y="1188720"/>
            <a:ext cx="2606040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263640" y="13716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Elasticsearch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8288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Find real postings that ask for a missing skill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2880360"/>
            <a:ext cx="2606040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85800" y="30632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Amazon S3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35204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Archives every model and its training data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246120" y="2880360"/>
            <a:ext cx="2606040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474720" y="30632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spaCy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3474720" y="35204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Fast phrase matching, no training data needed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035040" y="2880360"/>
            <a:ext cx="2606040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63640" y="30632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XGBoost + scikit-learn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263640" y="35204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Two models compared on held-out AUC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Skill extraction: 84% → 99% precision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457200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Taxonomy of ~150 skills in 8 categories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Case-insensitive match, except Go, C and R (stops "go above and beyond")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Overlaps keep the longest span: "AWS Certified Solutions Architect" ≠ extra "AWS"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Fixed missing soft skill in the synthetic answer key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0" y="1188720"/>
            <a:ext cx="3200400" cy="301752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760720" y="13716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99.2%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5760720" y="21945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mean precision (was 84.5%)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760720" y="27432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99.7%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5760720" y="35661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mean recall on synthetic postings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Market alignment: share of demand covered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566160" cy="3200400"/>
          </a:xfrm>
          <a:prstGeom prst="roundRect">
            <a:avLst>
              <a:gd name="adj" fmla="val 3429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1371600"/>
            <a:ext cx="31089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d(s) = postings with s ÷ all postings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A(u) = Σ d(s) for the student's skills ÷ Σ d(s) for all skills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0 = covers nothing employers ask for; 1 = covers everything. Skills never seen in postings earn no credit.</a:t>
            </a:r>
            <a:endParaRPr lang="en-US" sz="14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206240" y="1097280"/>
          <a:ext cx="448056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Placement model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0.947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05740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ROC AUC on real campus-placement + LinkedIn data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743200"/>
            <a:ext cx="3474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6 features: CGPA, projects, certifications, internships, skill count, alignment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75/25 stratified split; higher held-out AUC wins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CGPA proxy dominates on real data</a:t>
            </a:r>
            <a:endParaRPr lang="en-US" sz="14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206240" y="1097280"/>
          <a:ext cx="448056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Dashboard: five pages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216152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051560" y="114300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Student 360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3291840" y="114300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Probability gauge, risk tier, skill radar, ranked gaps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929384"/>
            <a:ext cx="411480" cy="41148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51560" y="1856232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What-if simulator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3291840" y="1856232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Change CGPA or add skills, see the new probability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642616"/>
            <a:ext cx="411480" cy="41148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51560" y="2569464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Cohort analytics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3291840" y="2569464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Risk distribution and downloadable intervention list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3355848"/>
            <a:ext cx="411480" cy="41148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051560" y="3282696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Market pulse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291840" y="3282696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Top skills, category treemap, full skill table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4069080"/>
            <a:ext cx="411480" cy="41148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051560" y="3995928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Data Studio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3291840" y="3995928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Upload CSVs, validate, re-run the pipeline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Results at a glance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1920240" cy="237744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69164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0.947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51460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ROC AUC on real data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560320" y="1371600"/>
            <a:ext cx="1920240" cy="237744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743200" y="169164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99.2%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2743200" y="251460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Skill-extraction precision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663440" y="1371600"/>
            <a:ext cx="1920240" cy="237744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846320" y="169164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1,500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4846320" y="251460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Real postings indexed in Elasticsearch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766560" y="1371600"/>
            <a:ext cx="1920240" cy="237744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949440" y="169164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3600" dirty="0"/>
          </a:p>
        </p:txBody>
      </p:sp>
      <p:sp>
        <p:nvSpPr>
          <p:cNvPr id="14" name="Text 12"/>
          <p:cNvSpPr txBox="1"/>
          <p:nvPr/>
        </p:nvSpPr>
        <p:spPr>
          <a:xfrm>
            <a:off x="6949440" y="251460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Automated tests, all passing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023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Kafka: 10/10 streamed postings processed live  ·  Airflow: all 4 tasks green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Limitations and next steps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977640" cy="265176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/>
        </p:spPr>
      </p:sp>
      <p:sp>
        <p:nvSpPr>
          <p:cNvPr id="4" name="Shape 2"/>
          <p:cNvSpPr/>
          <p:nvPr/>
        </p:nvSpPr>
        <p:spPr>
          <a:xfrm>
            <a:off x="4709160" y="1188720"/>
            <a:ext cx="3977640" cy="265176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3258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Limitations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828800"/>
            <a:ext cx="3520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Real student skills were imputed from specialisation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Taxonomy misses new or unusual skill names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Demand not split by region or seniority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983480" y="13258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Next steps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4983480" y="1828800"/>
            <a:ext cx="3520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Collect real student skills via upload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Learned skill-NER on annotated postings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Spark + Delta Lake at larger scale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Track a full placement season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Thank you</a:t>
            </a: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8036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Questions?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accent2"/>
                </a:solidFill>
              </a:rPr>
              <a:t>github.com/Vikram5002/Equilearn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killBridge">
  <a:themeElements>
    <a:clrScheme name="SkillBridge">
      <a:dk1>
        <a:srgbClr val="14142B"/>
      </a:dk1>
      <a:lt1>
        <a:srgbClr val="FFFFFF"/>
      </a:lt1>
      <a:dk2>
        <a:srgbClr val="1E1B4B"/>
      </a:dk2>
      <a:lt2>
        <a:srgbClr val="F1F0FB"/>
      </a:lt2>
      <a:accent1>
        <a:srgbClr val="5B3DF5"/>
      </a:accent1>
      <a:accent2>
        <a:srgbClr val="0E9F6E"/>
      </a:accent2>
      <a:accent3>
        <a:srgbClr val="E02454"/>
      </a:accent3>
      <a:accent4>
        <a:srgbClr val="D97706"/>
      </a:accent4>
      <a:accent5>
        <a:srgbClr val="0284C7"/>
      </a:accent5>
      <a:accent6>
        <a:srgbClr val="64748B"/>
      </a:accent6>
      <a:hlink>
        <a:srgbClr val="5B3DF5"/>
      </a:hlink>
      <a:folHlink>
        <a:srgbClr val="6D28D9"/>
      </a:folHlink>
    </a:clrScheme>
    <a:fontScheme name="SkillBridg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SkillBridge Analytics</dc:title>
  <dc:subject>PptxGenJS Presentation</dc:subject>
  <dc:creator>Vikram, Jahnavy, Jansi</dc:creator>
  <cp:lastModifiedBy>Vikram, Jahnavy, Jansi</cp:lastModifiedBy>
  <cp:revision>1</cp:revision>
  <dcterms:created xsi:type="dcterms:W3CDTF">2026-10-03T12:15:31Z</dcterms:created>
  <dcterms:modified xsi:type="dcterms:W3CDTF">2026-10-03T12:15:31Z</dcterms:modified>
</cp:coreProperties>
</file>