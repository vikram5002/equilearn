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d5c9c8c-2aa0-27a3-1a9d-442e562008c6}">
          <p14:sldIdLst>
            <p14:sldId id="256"/>
            <p14:sldId id="257"/>
          </p14:sldIdLst>
        </p14:section>
        <p14:section name="System" id="{fb57f852-6bfc-d82c-dd24-36a0af88e654}">
          <p14:sldIdLst>
            <p14:sldId id="258"/>
            <p14:sldId id="259"/>
            <p14:sldId id="260"/>
          </p14:sldIdLst>
        </p14:section>
        <p14:section name="Methods" id="{bb4977bf-c9a4-4a38-4c58-3e139289f97b}">
          <p14:sldIdLst>
            <p14:sldId id="261"/>
            <p14:sldId id="262"/>
            <p14:sldId id="263"/>
          </p14:sldIdLst>
        </p14:section>
        <p14:section name="Results" id="{e577a5e4-0aac-1f8d-fe93-5082868e137d}">
          <p14:sldIdLst>
            <p14:sldId id="264"/>
            <p14:sldId id="265"/>
          </p14:sldIdLst>
        </p14:section>
        <p14:section name="Conclusion" id="{25ef2dd4-2216-c99b-de1d-ccd84f88ac15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14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142B"/>
                </a:solidFill>
                <a:latin typeface="+mn-lt"/>
              </a:rPr>
              <a:t>Top skills in 1,500 real LinkedIn postings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postings</c:v>
                </c:pt>
              </c:strCache>
            </c:strRef>
          </c:tx>
          <c:spPr>
            <a:solidFill>
              <a:srgbClr val="5B3DF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</c:v>
                  </c:pt>
                  <c:pt idx="1">
                    <c:v>SQL</c:v>
                  </c:pt>
                  <c:pt idx="2">
                    <c:v>Teamwork</c:v>
                  </c:pt>
                  <c:pt idx="3">
                    <c:v>Agile</c:v>
                  </c:pt>
                  <c:pt idx="4">
                    <c:v>Problem Solving</c:v>
                  </c:pt>
                  <c:pt idx="5">
                    <c:v>Time Management</c:v>
                  </c:pt>
                  <c:pt idx="6">
                    <c:v>Leadership</c:v>
                  </c:pt>
                  <c:pt idx="7">
                    <c:v>Communication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3.5</c:v>
                </c:pt>
                <c:pt idx="1">
                  <c:v>4.1</c:v>
                </c:pt>
                <c:pt idx="2">
                  <c:v>5</c:v>
                </c:pt>
                <c:pt idx="3">
                  <c:v>5.9</c:v>
                </c:pt>
                <c:pt idx="4">
                  <c:v>6.5</c:v>
                </c:pt>
                <c:pt idx="5">
                  <c:v>7.1</c:v>
                </c:pt>
                <c:pt idx="6">
                  <c:v>22.5</c:v>
                </c:pt>
                <c:pt idx="7">
                  <c:v>48.6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41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4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4E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14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142B"/>
                </a:solidFill>
                <a:latin typeface="+mn-lt"/>
              </a:rPr>
              <a:t>Real data: campus placement + LinkedIn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 AUC</c:v>
                </c:pt>
              </c:strCache>
            </c:strRef>
          </c:tx>
          <c:spPr>
            <a:solidFill>
              <a:srgbClr val="5B3D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Logistic regression</c:v>
                  </c:pt>
                  <c:pt idx="1">
                    <c:v>XGBoost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0.947</c:v>
                </c:pt>
                <c:pt idx="1">
                  <c:v>0.896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E9F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Logistic regression</c:v>
                  </c:pt>
                  <c:pt idx="1">
                    <c:v>XGBoost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0.833</c:v>
                </c:pt>
                <c:pt idx="1">
                  <c:v>0.778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41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4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6350" cap="flat">
              <a:solidFill>
                <a:srgbClr val="E4E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goal: use real job postings to tell each student what to learn and who needs help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SkillBridge Analytics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SkillBridge Analytics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Skill-gap analysis and placement prediction from job-posting text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Vikram  ·  Jahnavy  ·  Jansi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Placement cells decide with old information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Who is at risk?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Spotted by intuition, student by student, late in the season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6120" y="12344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630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should they learn?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Advice comes from last year's recruiters, not today's postings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6304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does the market want?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Thousands of postings a week, all unstructured text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Goal: turn job-posting text into a per-student action plan.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Five stages from raw postings to a decision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84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Ingest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LinkedIn / CSV / Kafka stream + student records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39696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660904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60904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231136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Extract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249424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spaCy matcher finds ~150 skills in text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22192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Feature store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Demand per skill, gaps, alignment score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504688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025896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2589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596128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14416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LogReg vs XGBoost, best AUC wins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87184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4" name="Shape 22"/>
          <p:cNvSpPr/>
          <p:nvPr/>
        </p:nvSpPr>
        <p:spPr>
          <a:xfrm>
            <a:off x="7708392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0839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278624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96912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Student, cohort and market views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Orchestrated by Apache Airflow  ·  Outputs archived in Amazon S3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Architecture</a:t>
            </a:r>
            <a:endParaRPr lang="en-US" sz="2800" dirty="0"/>
          </a:p>
        </p:txBody>
      </p:sp>
      <p:pic>
        <p:nvPicPr>
          <p:cNvPr id="3" name="Image 0" descr="D:\bda project\rsp\figures\fig1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51560"/>
            <a:ext cx="7498080" cy="3127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Each stage reads the previous stage's output, so every stage can be tested on its own.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Big-data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Apache Kafka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Streams postings in; same extractor runs per message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7472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Apache Airflow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4-task DAG, LocalExecutor, ~12 s per run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Elasticsearch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real postings that ask for a missing skill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Amazon S3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520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Archives every model and its training data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46120" y="288036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7472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spaCy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3520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 phrase matching, no training data needed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35040" y="288036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6364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XGBoost + scikit-learn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520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Two models compared on held-out AUC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Skill extraction: 84% → 99% precision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Taxonomy of ~150 skills in 8 categories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Case-insensitive match, except Go, C and R (stops "go above and beyond")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Overlaps keep the longest span: "AWS Certified Solutions Architect" ≠ extra "AWS"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Fixed missing soft skill in the synthetic answer key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0" y="1188720"/>
            <a:ext cx="32004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607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mean precision (was 84.5%)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99.7%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35661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mean recall on synthetic postings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Market alignment: share of demand covered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661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d(s) = postings with s ÷ all postings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A(u) = Σ d(s) for the student's skills ÷ Σ d(s) for all skills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 = covers nothing employers ask for; 1 = covers everything. Skills never seen in postings earn no credit.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206240" y="1097280"/>
          <a:ext cx="44805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Placement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0.947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57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ROC AUC on real campus-placement + LinkedIn data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 features: CGPA, projects, certifications, internships, skill count, alignment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75/25 stratified split; higher held-out AUC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CGPA proxy dominates on real data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206240" y="1097280"/>
          <a:ext cx="44805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Dashboard: five pages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161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143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Student 360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Probability gauge, risk tier, skill radar, ranked gaps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9384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18562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What-if simulator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85623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Change CGPA or add skills, see the new probability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2569464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Cohort analytics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6946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Risk distribution and downloadable intervention list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355848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28269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Market pulse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2826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Top skills, category treemap, full skill table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51560" y="39959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 Studio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399592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CSVs, validate, re-run the pipeline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Results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20240" cy="23774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91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ROC AUC on real data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371600"/>
            <a:ext cx="1920240" cy="23774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691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Skill-extraction precision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1920240" cy="23774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691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1,500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Real postings indexed in Elasticsearch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1371600"/>
            <a:ext cx="1920240" cy="23774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691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Automated tests, all passing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Kafka: 10/10 streamed postings processed live  ·  Airflow: all 4 tasks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Limitations and 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4709160" y="1188720"/>
            <a:ext cx="39776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Limitations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2880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student skills were imputed from specialisation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Taxonomy misses new or unusual skill names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Demand not split by region or seniority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Next steps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82880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Collect real student skills via upload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Learned skill-NER on annotated postings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Spark + Delta Lake at larger scale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Track a full placement season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Thank you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Questions?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github.com/Vikram5002/Equilearn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killBridge">
  <a:themeElements>
    <a:clrScheme name="SkillBridge">
      <a:dk1>
        <a:srgbClr val="14142B"/>
      </a:dk1>
      <a:lt1>
        <a:srgbClr val="FFFFFF"/>
      </a:lt1>
      <a:dk2>
        <a:srgbClr val="1E1B4B"/>
      </a:dk2>
      <a:lt2>
        <a:srgbClr val="F1F0FB"/>
      </a:lt2>
      <a:accent1>
        <a:srgbClr val="5B3DF5"/>
      </a:accent1>
      <a:accent2>
        <a:srgbClr val="0E9F6E"/>
      </a:accent2>
      <a:accent3>
        <a:srgbClr val="E02454"/>
      </a:accent3>
      <a:accent4>
        <a:srgbClr val="D97706"/>
      </a:accent4>
      <a:accent5>
        <a:srgbClr val="0284C7"/>
      </a:accent5>
      <a:accent6>
        <a:srgbClr val="64748B"/>
      </a:accent6>
      <a:hlink>
        <a:srgbClr val="5B3DF5"/>
      </a:hlink>
      <a:folHlink>
        <a:srgbClr val="6D28D9"/>
      </a:folHlink>
    </a:clrScheme>
    <a:fontScheme name="SkillBrid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SkillBridge Analytics</dc:title>
  <dc:subject>PptxGenJS Presentation</dc:subject>
  <dc:creator>Vikram, Jahnavy, Jansi</dc:creator>
  <cp:lastModifiedBy>Vikram, Jahnavy, Jansi</cp:lastModifiedBy>
  <cp:revision>1</cp:revision>
  <dcterms:created xsi:type="dcterms:W3CDTF">2026-10-03T12:28:01Z</dcterms:created>
  <dcterms:modified xsi:type="dcterms:W3CDTF">2026-10-03T12:28:01Z</dcterms:modified>
</cp:coreProperties>
</file>