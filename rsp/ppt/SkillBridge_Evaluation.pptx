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1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2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charts/chart3.xml" ContentType="application/vnd.openxmlformats-officedocument.drawingml.chart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notesMasterIdLst>
    <p:notesMasterId r:id="rId2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8061075b-f526-9a2f-ae94-61a212bf8797}">
          <p14:sldIdLst>
            <p14:sldId id="256"/>
            <p14:sldId id="257"/>
            <p14:sldId id="258"/>
            <p14:sldId id="259"/>
          </p14:sldIdLst>
        </p14:section>
        <p14:section name="Data &amp; architecture" id="{4ced18a0-7176-3b57-f013-e93a0fdd2e6d}">
          <p14:sldIdLst>
            <p14:sldId id="260"/>
            <p14:sldId id="261"/>
            <p14:sldId id="262"/>
            <p14:sldId id="263"/>
          </p14:sldIdLst>
        </p14:section>
        <p14:section name="Methodology" id="{4538e13f-65e0-69a0-9764-9257ace4a8fd}">
          <p14:sldIdLst>
            <p14:sldId id="264"/>
            <p14:sldId id="265"/>
            <p14:sldId id="266"/>
          </p14:sldIdLst>
        </p14:section>
        <p14:section name="Results" id="{629e1114-2a3a-482e-4b5c-22eb402e344d}">
          <p14:sldIdLst>
            <p14:sldId id="267"/>
            <p14:sldId id="268"/>
          </p14:sldIdLst>
        </p14:section>
        <p14:section name="Live system" id="{fd599bef-c590-62db-75bf-c7e3fa407ee6}">
          <p14:sldIdLst>
            <p14:sldId id="269"/>
            <p14:sldId id="270"/>
            <p14:sldId id="271"/>
            <p14:sldId id="272"/>
            <p14:sldId id="273"/>
            <p14:sldId id="274"/>
            <p14:sldId id="275"/>
          </p14:sldIdLst>
        </p14:section>
        <p14:section name="Testing &amp; quality" id="{0e0f8941-c23c-8c7a-580d-6573942de2ee}">
          <p14:sldIdLst>
            <p14:sldId id="276"/>
            <p14:sldId id="277"/>
            <p14:sldId id="278"/>
          </p14:sldIdLst>
        </p14:section>
        <p14:section name="Conclusion" id="{bd09b1a1-3d76-576c-5e99-3adafc4ce8ec}">
          <p14:sldIdLst>
            <p14:sldId id="279"/>
            <p14:sldId id="280"/>
            <p14:sldId id="28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notesMaster" Target="notesMasters/notesMaster1.xml"/><Relationship Id="rId29" Type="http://schemas.openxmlformats.org/officeDocument/2006/relationships/presProps" Target="presProps.xml"/><Relationship Id="rId30" Type="http://schemas.openxmlformats.org/officeDocument/2006/relationships/viewProps" Target="viewProps.xml"/><Relationship Id="rId31" Type="http://schemas.openxmlformats.org/officeDocument/2006/relationships/theme" Target="theme/theme1.xml"/><Relationship Id="rId32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4142B"/>
                </a:solidFill>
                <a:latin typeface="+mn-lt"/>
              </a:defRPr>
            </a:pPr>
            <a:r>
              <a:rPr sz="1200" b="0" i="0" u="none" strike="noStrike">
                <a:solidFill>
                  <a:srgbClr val="14142B"/>
                </a:solidFill>
                <a:latin typeface="+mn-lt"/>
              </a:rPr>
              <a:t>Most requested skills — 1,500 real LinkedIn postings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% of postings</c:v>
                </c:pt>
              </c:strCache>
            </c:strRef>
          </c:tx>
          <c:spPr>
            <a:solidFill>
              <a:srgbClr val="5B3DF5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4142B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C</c:v>
                  </c:pt>
                  <c:pt idx="1">
                    <c:v>SQL</c:v>
                  </c:pt>
                  <c:pt idx="2">
                    <c:v>Teamwork</c:v>
                  </c:pt>
                  <c:pt idx="3">
                    <c:v>Agile</c:v>
                  </c:pt>
                  <c:pt idx="4">
                    <c:v>Problem Solving</c:v>
                  </c:pt>
                  <c:pt idx="5">
                    <c:v>Time Management</c:v>
                  </c:pt>
                  <c:pt idx="6">
                    <c:v>Leadership</c:v>
                  </c:pt>
                  <c:pt idx="7">
                    <c:v>Communication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3.5</c:v>
                </c:pt>
                <c:pt idx="1">
                  <c:v>4.1</c:v>
                </c:pt>
                <c:pt idx="2">
                  <c:v>5</c:v>
                </c:pt>
                <c:pt idx="3">
                  <c:v>5.9</c:v>
                </c:pt>
                <c:pt idx="4">
                  <c:v>6.5</c:v>
                </c:pt>
                <c:pt idx="5">
                  <c:v>7.1</c:v>
                </c:pt>
                <c:pt idx="6">
                  <c:v>22.5</c:v>
                </c:pt>
                <c:pt idx="7">
                  <c:v>48.6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0" i="0" strike="noStrike" sz="1000" u="none">
                  <a:solidFill>
                    <a:srgbClr val="14142B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4142B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majorGridlines>
          <c:spPr>
            <a:ln w="6350" cap="flat">
              <a:solidFill>
                <a:srgbClr val="E4E2F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4748B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4142B"/>
                </a:solidFill>
                <a:latin typeface="+mn-lt"/>
              </a:defRPr>
            </a:pPr>
            <a:r>
              <a:rPr sz="1200" b="0" i="0" u="none" strike="noStrike">
                <a:solidFill>
                  <a:srgbClr val="14142B"/>
                </a:solidFill>
                <a:latin typeface="+mn-lt"/>
              </a:rPr>
              <a:t>Held-out results on real data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ROC AUC</c:v>
                </c:pt>
              </c:strCache>
            </c:strRef>
          </c:tx>
          <c:spPr>
            <a:solidFill>
              <a:srgbClr val="5B3DF5"/>
            </a:solidFill>
            <a:effectLst/>
          </c:spPr>
          <c:invertIfNegative val="0"/>
          <c:dLbls>
            <c:numFmt formatCode="0.00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4142B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Logistic regression</c:v>
                  </c:pt>
                  <c:pt idx="1">
                    <c:v>XGBoost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0.9467408585055644</c:v>
                </c:pt>
                <c:pt idx="1">
                  <c:v>0.8958664546899842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Accuracy</c:v>
                </c:pt>
              </c:strCache>
            </c:strRef>
          </c:tx>
          <c:spPr>
            <a:solidFill>
              <a:srgbClr val="0E9F6E"/>
            </a:solidFill>
            <a:effectLst/>
          </c:spPr>
          <c:invertIfNegative val="0"/>
          <c:dLbls>
            <c:numFmt formatCode="0.00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4142B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Logistic regression</c:v>
                  </c:pt>
                  <c:pt idx="1">
                    <c:v>XGBoost</c:v>
                  </c:pt>
                </c:lvl>
              </c:multiLvlStrCache>
            </c:multiLvl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0.8333333333333334</c:v>
                </c:pt>
                <c:pt idx="1">
                  <c:v>0.7777777777777778</c:v>
                </c:pt>
              </c:numCache>
            </c:numRef>
          </c:val>
        </c:ser>
        <c:dLbls>
          <c:numFmt formatCode="0.000" sourceLinked="0"/>
          <c:txPr>
            <a:bodyPr/>
            <a:lstStyle/>
            <a:p>
              <a:pPr>
                <a:defRPr b="0" i="0" strike="noStrike" sz="1000" u="none">
                  <a:solidFill>
                    <a:srgbClr val="14142B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4142B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  <c:min val="0"/>
        </c:scaling>
        <c:delete val="1"/>
        <c:axPos val="l"/>
        <c:majorGridlines>
          <c:spPr>
            <a:ln w="6350" cap="flat">
              <a:solidFill>
                <a:srgbClr val="E4E2F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4748B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4142B"/>
                </a:solidFill>
                <a:latin typeface="+mn-lt"/>
              </a:defRPr>
            </a:pPr>
            <a:r>
              <a:rPr sz="1200" b="0" i="0" u="none" strike="noStrike">
                <a:solidFill>
                  <a:srgbClr val="14142B"/>
                </a:solidFill>
                <a:latin typeface="+mn-lt"/>
              </a:rPr>
              <a:t>Standardised logistic-regression coefficients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Coefficient</c:v>
                </c:pt>
              </c:strCache>
            </c:strRef>
          </c:tx>
          <c:spPr>
            <a:solidFill>
              <a:srgbClr val="5B3DF5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4142B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projects count</c:v>
                  </c:pt>
                  <c:pt idx="1">
                    <c:v>certifications count</c:v>
                  </c:pt>
                  <c:pt idx="2">
                    <c:v>market alignment score</c:v>
                  </c:pt>
                  <c:pt idx="3">
                    <c:v>skill count</c:v>
                  </c:pt>
                  <c:pt idx="4">
                    <c:v>internships count</c:v>
                  </c:pt>
                  <c:pt idx="5">
                    <c:v>cgpa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</c:v>
                </c:pt>
                <c:pt idx="1">
                  <c:v>0</c:v>
                </c:pt>
                <c:pt idx="2">
                  <c:v>0.08</c:v>
                </c:pt>
                <c:pt idx="3">
                  <c:v>-0.38</c:v>
                </c:pt>
                <c:pt idx="4">
                  <c:v>0.69</c:v>
                </c:pt>
                <c:pt idx="5">
                  <c:v>2.24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1000" u="none">
                  <a:solidFill>
                    <a:srgbClr val="14142B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4142B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majorGridlines>
          <c:spPr>
            <a:ln w="6350" cap="flat">
              <a:solidFill>
                <a:srgbClr val="E4E2F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4748B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deliberately avoided scraping LinkedIn/Naukri because of their terms of service; both datasets are public on Kaggle.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 the real data, adding skills lowers the estimate — the dashboard says so and explains why, rather than hiding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_TITLE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188720"/>
            <a:ext cx="804672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8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834640"/>
            <a:ext cx="804672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600" dirty="0">
                <a:solidFill>
                  <a:schemeClr val="bg2"/>
                </a:solidFill>
              </a:defRPr>
            </a:lvl1pPr>
          </a:lstStyle>
          <a:p>
            <a:pPr algn="l" indent="0" marL="0"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3" name="Text 0"/>
          <p:cNvSpPr/>
          <p:nvPr/>
        </p:nvSpPr>
        <p:spPr>
          <a:xfrm>
            <a:off x="457200" y="4754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SkillBridge Analytics  ·  Vikram, Jahnavy, Jansi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188720"/>
            <a:ext cx="8046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800" b="1" dirty="0">
                <a:solidFill>
                  <a:schemeClr val="bg1"/>
                </a:solidFill>
              </a:rPr>
              <a:t>SkillBridge Analytics</a:t>
            </a:r>
            <a:endParaRPr lang="en-US" sz="3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834640"/>
            <a:ext cx="80467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chemeClr val="bg2"/>
                </a:solidFill>
              </a:rPr>
              <a:t>A big-data pipeline for skill-gap analysis and campus placement prediction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chemeClr val="bg2"/>
                </a:solidFill>
              </a:rPr>
              <a:t> </a:t>
            </a:r>
            <a:endParaRPr lang="en-US" sz="1600" dirty="0"/>
          </a:p>
          <a:p>
            <a:pPr algn="l" indent="0" marL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Vikram  ·  Jahnavy  ·  Jansi</a:t>
            </a:r>
            <a:endParaRPr lang="en-US" sz="1600" dirty="0"/>
          </a:p>
          <a:p>
            <a:pPr algn="l"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Big Data Analytics — Project Evaluation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Agenda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1188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1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1097280" y="118872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tx2"/>
                </a:solidFill>
              </a:rPr>
              <a:t>Problem &amp; objectives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4663440" y="118872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4663440" y="1188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2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5303520" y="118872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tx2"/>
                </a:solidFill>
              </a:rPr>
              <a:t>Data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457200" y="2029968"/>
            <a:ext cx="457200" cy="45720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57200" y="20299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3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097280" y="2029968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tx2"/>
                </a:solidFill>
              </a:rPr>
              <a:t>Architecture &amp; tech stack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4663440" y="2029968"/>
            <a:ext cx="457200" cy="45720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663440" y="20299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4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5303520" y="2029968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tx2"/>
                </a:solidFill>
              </a:rPr>
              <a:t>Methodology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457200" y="2871216"/>
            <a:ext cx="457200" cy="457200"/>
          </a:xfrm>
          <a:prstGeom prst="ellipse">
            <a:avLst/>
          </a:prstGeom>
          <a:solidFill>
            <a:schemeClr val="accent5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457200" y="287121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5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1097280" y="2871216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tx2"/>
                </a:solidFill>
              </a:rPr>
              <a:t>Results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4663440" y="2871216"/>
            <a:ext cx="457200" cy="457200"/>
          </a:xfrm>
          <a:prstGeom prst="ellipse">
            <a:avLst/>
          </a:prstGeom>
          <a:solidFill>
            <a:schemeClr val="accent5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4663440" y="287121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6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5303520" y="2871216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tx2"/>
                </a:solidFill>
              </a:rPr>
              <a:t>Live system</a:t>
            </a:r>
            <a:endParaRPr lang="en-US" sz="1700" dirty="0"/>
          </a:p>
        </p:txBody>
      </p:sp>
      <p:sp>
        <p:nvSpPr>
          <p:cNvPr id="21" name="Shape 19"/>
          <p:cNvSpPr/>
          <p:nvPr/>
        </p:nvSpPr>
        <p:spPr>
          <a:xfrm>
            <a:off x="457200" y="3712464"/>
            <a:ext cx="457200" cy="457200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457200" y="371246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7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1097280" y="3712464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tx2"/>
                </a:solidFill>
              </a:rPr>
              <a:t>Testing &amp; quality</a:t>
            </a:r>
            <a:endParaRPr lang="en-US" sz="1700" dirty="0"/>
          </a:p>
        </p:txBody>
      </p:sp>
      <p:sp>
        <p:nvSpPr>
          <p:cNvPr id="24" name="Shape 22"/>
          <p:cNvSpPr/>
          <p:nvPr/>
        </p:nvSpPr>
        <p:spPr>
          <a:xfrm>
            <a:off x="4663440" y="3712464"/>
            <a:ext cx="457200" cy="457200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4663440" y="371246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8</a:t>
            </a:r>
            <a:endParaRPr lang="en-US" sz="1500" dirty="0"/>
          </a:p>
        </p:txBody>
      </p:sp>
      <p:sp>
        <p:nvSpPr>
          <p:cNvPr id="26" name="Text 24"/>
          <p:cNvSpPr txBox="1"/>
          <p:nvPr/>
        </p:nvSpPr>
        <p:spPr>
          <a:xfrm>
            <a:off x="5303520" y="3712464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tx2"/>
                </a:solidFill>
              </a:rPr>
              <a:t>Limitations &amp; future work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Problem statement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2606040" cy="269748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1417320"/>
            <a:ext cx="457200" cy="457200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31520" y="1417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1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01168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Late, manual risk spotting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2651760"/>
            <a:ext cx="21031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Placement cells find at-risk students by intuition, one by one, late in the season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246120" y="1188720"/>
            <a:ext cx="2606040" cy="269748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/>
        </p:spPr>
      </p:sp>
      <p:sp>
        <p:nvSpPr>
          <p:cNvPr id="9" name="Shape 7"/>
          <p:cNvSpPr/>
          <p:nvPr/>
        </p:nvSpPr>
        <p:spPr>
          <a:xfrm>
            <a:off x="3520440" y="1417320"/>
            <a:ext cx="457200" cy="457200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3520440" y="1417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2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3520440" y="201168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Outdated skill advice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3520440" y="2651760"/>
            <a:ext cx="21031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Recommendations come from last year's recruiters, not today's job market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035040" y="1188720"/>
            <a:ext cx="2606040" cy="269748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/>
        </p:spPr>
      </p:sp>
      <p:sp>
        <p:nvSpPr>
          <p:cNvPr id="14" name="Shape 12"/>
          <p:cNvSpPr/>
          <p:nvPr/>
        </p:nvSpPr>
        <p:spPr>
          <a:xfrm>
            <a:off x="6309360" y="1417320"/>
            <a:ext cx="457200" cy="457200"/>
          </a:xfrm>
          <a:prstGeom prst="ellipse">
            <a:avLst/>
          </a:prstGeom>
          <a:solidFill>
            <a:schemeClr val="accent5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309360" y="1417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3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6309360" y="201168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Data locked in text</a:t>
            </a:r>
            <a:endParaRPr lang="en-US" sz="1700" dirty="0"/>
          </a:p>
        </p:txBody>
      </p:sp>
      <p:sp>
        <p:nvSpPr>
          <p:cNvPr id="17" name="Text 15"/>
          <p:cNvSpPr txBox="1"/>
          <p:nvPr/>
        </p:nvSpPr>
        <p:spPr>
          <a:xfrm>
            <a:off x="6309360" y="2651760"/>
            <a:ext cx="21031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Thousands of postings a week list required skills — but as unstructured text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457200" y="40690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chemeClr val="accent1"/>
                </a:solidFill>
              </a:rPr>
              <a:t>Question: can job-posting text tell each student what to learn, and tell staff who needs help first?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Objectives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14300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1143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1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1097280" y="109728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Extract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2651760" y="1097280"/>
            <a:ext cx="6035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Recognise skills in free-text job postings automatically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57200" y="1856232"/>
            <a:ext cx="457200" cy="45720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457200" y="18562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2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1097280" y="1810512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Measure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2651760" y="1810512"/>
            <a:ext cx="6035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Score how well each student's skills match current market demand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457200" y="2569464"/>
            <a:ext cx="457200" cy="457200"/>
          </a:xfrm>
          <a:prstGeom prst="ellipse">
            <a:avLst/>
          </a:prstGeom>
          <a:solidFill>
            <a:schemeClr val="accent5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57200" y="256946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3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1097280" y="2523744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Predict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2651760" y="2523744"/>
            <a:ext cx="6035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Estimate each student's placement probability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457200" y="3282696"/>
            <a:ext cx="457200" cy="457200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457200" y="32826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4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1097280" y="3236976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Act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2651760" y="3236976"/>
            <a:ext cx="6035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Give staff and students a dashboard with gaps, risk tiers and what-if analysis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457200" y="3995928"/>
            <a:ext cx="457200" cy="457200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457200" y="39959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5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1097280" y="3950208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Scale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2651760" y="3950208"/>
            <a:ext cx="6035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Run it on a real big-data stack: Kafka, Airflow, Elasticsearch, S3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Data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143000"/>
            <a:ext cx="3977640" cy="3337560"/>
          </a:xfrm>
          <a:prstGeom prst="roundRect">
            <a:avLst>
              <a:gd name="adj" fmla="val 3288"/>
            </a:avLst>
          </a:prstGeom>
          <a:solidFill>
            <a:schemeClr val="bg2"/>
          </a:solidFill>
          <a:ln/>
        </p:spPr>
      </p:sp>
      <p:sp>
        <p:nvSpPr>
          <p:cNvPr id="4" name="Shape 2"/>
          <p:cNvSpPr/>
          <p:nvPr/>
        </p:nvSpPr>
        <p:spPr>
          <a:xfrm>
            <a:off x="4709160" y="1143000"/>
            <a:ext cx="3977640" cy="3337560"/>
          </a:xfrm>
          <a:prstGeom prst="roundRect">
            <a:avLst>
              <a:gd name="adj" fmla="val 3288"/>
            </a:avLst>
          </a:prstGeom>
          <a:solidFill>
            <a:schemeClr val="bg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31520" y="128016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2"/>
                </a:solidFill>
              </a:rPr>
              <a:t>Real data (Kaggle)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1737360"/>
            <a:ext cx="1645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215</a:t>
            </a:r>
            <a:endParaRPr lang="en-US" sz="34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251460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students with real placement outcomes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2514600" y="1737360"/>
            <a:ext cx="1737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1,500</a:t>
            </a:r>
            <a:endParaRPr lang="en-US" sz="3400" dirty="0"/>
          </a:p>
        </p:txBody>
      </p:sp>
      <p:sp>
        <p:nvSpPr>
          <p:cNvPr id="9" name="Text 7"/>
          <p:cNvSpPr txBox="1"/>
          <p:nvPr/>
        </p:nvSpPr>
        <p:spPr>
          <a:xfrm>
            <a:off x="2514600" y="251460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LinkedIn postings sampled from ~500 MB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731520" y="3154680"/>
            <a:ext cx="35204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Placement rate 68.8%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No skills in source data → imputed from specialisation (stated limitation)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4983480" y="128016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Synthetic data (validation)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4983480" y="1737360"/>
            <a:ext cx="1645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300</a:t>
            </a:r>
            <a:endParaRPr lang="en-US" sz="3400" dirty="0"/>
          </a:p>
        </p:txBody>
      </p:sp>
      <p:sp>
        <p:nvSpPr>
          <p:cNvPr id="13" name="Text 11"/>
          <p:cNvSpPr txBox="1"/>
          <p:nvPr/>
        </p:nvSpPr>
        <p:spPr>
          <a:xfrm>
            <a:off x="4983480" y="251460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generated postings with known skills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6766560" y="1737360"/>
            <a:ext cx="1737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200</a:t>
            </a:r>
            <a:endParaRPr lang="en-US" sz="3400" dirty="0"/>
          </a:p>
        </p:txBody>
      </p:sp>
      <p:sp>
        <p:nvSpPr>
          <p:cNvPr id="15" name="Text 13"/>
          <p:cNvSpPr txBox="1"/>
          <p:nvPr/>
        </p:nvSpPr>
        <p:spPr>
          <a:xfrm>
            <a:off x="6766560" y="251460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generated students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4983480" y="3154680"/>
            <a:ext cx="35204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Ground-truth skills allow exact precision/recall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Used to test the extractor, not to report model accuracy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Project flow</a:t>
            </a:r>
            <a:endParaRPr lang="en-US" sz="2800" dirty="0"/>
          </a:p>
        </p:txBody>
      </p:sp>
      <p:pic>
        <p:nvPicPr>
          <p:cNvPr id="3" name="Image 0" descr="Project flow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43254" y="914400"/>
            <a:ext cx="6657491" cy="352044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457200" y="440740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Each stage reads the previous stage's output; Airflow runs the four stages in order.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Technology choices</a:t>
            </a:r>
            <a:endParaRPr lang="en-US" sz="28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51560"/>
          <a:ext cx="822960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1463040"/>
                <a:gridCol w="4389120"/>
              </a:tblGrid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Tool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B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Role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B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Why we chose it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B4B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4142B"/>
                          </a:solidFill>
                        </a:rPr>
                        <a:t>spaCy PhraseMatcher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0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142B"/>
                          </a:solidFill>
                        </a:rPr>
                        <a:t>Skill NER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0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142B"/>
                          </a:solidFill>
                        </a:rPr>
                        <a:t>Transparent, no training data, canonical names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0FB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4142B"/>
                          </a:solidFill>
                        </a:rPr>
                        <a:t>scikit-learn + XGBoost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142B"/>
                          </a:solidFill>
                        </a:rPr>
                        <a:t>Prediction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142B"/>
                          </a:solidFill>
                        </a:rPr>
                        <a:t>Linear baseline vs boosted trees, pick by AUC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4142B"/>
                          </a:solidFill>
                        </a:rPr>
                        <a:t>Apache Kafka (KRaft)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0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142B"/>
                          </a:solidFill>
                        </a:rPr>
                        <a:t>Streaming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0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142B"/>
                          </a:solidFill>
                        </a:rPr>
                        <a:t>Postings processed as they arrive; no ZooKeeper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0FB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4142B"/>
                          </a:solidFill>
                        </a:rPr>
                        <a:t>Apache Airflow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142B"/>
                          </a:solidFill>
                        </a:rPr>
                        <a:t>Orchestration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142B"/>
                          </a:solidFill>
                        </a:rPr>
                        <a:t>4-task DAG; LocalExecutor for Windows stability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4142B"/>
                          </a:solidFill>
                        </a:rPr>
                        <a:t>Elasticsearch 8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0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142B"/>
                          </a:solidFill>
                        </a:rPr>
                        <a:t>Search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0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142B"/>
                          </a:solidFill>
                        </a:rPr>
                        <a:t>Find real postings asking for a missing skill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0FB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4142B"/>
                          </a:solidFill>
                        </a:rPr>
                        <a:t>Amazon S3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142B"/>
                          </a:solidFill>
                        </a:rPr>
                        <a:t>Storage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142B"/>
                          </a:solidFill>
                        </a:rPr>
                        <a:t>Versioned archive of models and training data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4142B"/>
                          </a:solidFill>
                        </a:rPr>
                        <a:t>Streamlit + Plotly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0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142B"/>
                          </a:solidFill>
                        </a:rPr>
                        <a:t>Dashboard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0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142B"/>
                          </a:solidFill>
                        </a:rPr>
                        <a:t>Interactive UI built directly on the pipeline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0FB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Tech stack flow</a:t>
            </a:r>
            <a:endParaRPr lang="en-US" sz="2800" dirty="0"/>
          </a:p>
        </p:txBody>
      </p:sp>
      <p:pic>
        <p:nvPicPr>
          <p:cNvPr id="3" name="Image 0" descr="Tech stack flow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0519" y="914400"/>
            <a:ext cx="4508241" cy="379476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669280" y="105156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Read top to bottom</a:t>
            </a:r>
            <a:endParaRPr lang="en-US" sz="1600" dirty="0"/>
          </a:p>
        </p:txBody>
      </p:sp>
      <p:sp>
        <p:nvSpPr>
          <p:cNvPr id="5" name="Text 2"/>
          <p:cNvSpPr txBox="1"/>
          <p:nvPr/>
        </p:nvSpPr>
        <p:spPr>
          <a:xfrm>
            <a:off x="5669280" y="1554480"/>
            <a:ext cx="301752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Each layer feeds the one below it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Kafka, Elasticsearch and Airflow run in Docker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ML library versions pinned so models trained in Airflow load in the dashboard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31 pytest tests guard every layer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Skill extraction (NLP)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143000"/>
            <a:ext cx="46634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Taxonomy of ~150 skills in 8 categories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Case-insensitive matching, except Go, C, R — stops "go above and beyond" being read as the Go language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Overlapping matches keep the longest span: "AWS Certified Solutions Architect" is not also counted as "AWS"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Same function runs in batch and on each Kafka message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0" y="1143000"/>
            <a:ext cx="3200400" cy="3291840"/>
          </a:xfrm>
          <a:prstGeom prst="roundRect">
            <a:avLst>
              <a:gd name="adj" fmla="val 3429"/>
            </a:avLst>
          </a:prstGeom>
          <a:solidFill>
            <a:schemeClr val="bg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760720" y="1325880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99.2%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5760720" y="210312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precision (up from 84.5% after our fixes)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5760720" y="2788920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99.7%</a:t>
            </a:r>
            <a:endParaRPr lang="en-US" sz="4000" dirty="0"/>
          </a:p>
        </p:txBody>
      </p:sp>
      <p:sp>
        <p:nvSpPr>
          <p:cNvPr id="8" name="Text 6"/>
          <p:cNvSpPr txBox="1"/>
          <p:nvPr/>
        </p:nvSpPr>
        <p:spPr>
          <a:xfrm>
            <a:off x="5760720" y="356616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recall, on synthetic postings with ground truth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Market demand &amp; alignment score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143000"/>
            <a:ext cx="3566160" cy="3337560"/>
          </a:xfrm>
          <a:prstGeom prst="roundRect">
            <a:avLst>
              <a:gd name="adj" fmla="val 3288"/>
            </a:avLst>
          </a:prstGeom>
          <a:solidFill>
            <a:schemeClr val="bg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85800" y="1325880"/>
            <a:ext cx="315468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Demand of a skill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d(s) = postings mentioning s ÷ all postings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Student alignment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A(u) = Σ d(s) over the student's skills ÷ Σ d(s) over all skills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300" i="1" dirty="0">
                <a:solidFill>
                  <a:schemeClr val="tx1"/>
                </a:solidFill>
              </a:rPr>
              <a:t>0 = covers nothing employers ask for, 1 = covers everything. Gaps are ranked by d(s).</a:t>
            </a:r>
            <a:endParaRPr lang="en-US" sz="13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4206240" y="1051560"/>
          <a:ext cx="4480560" cy="3474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Placement prediction model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143000"/>
            <a:ext cx="36576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6 features: CGPA, projects, certifications, internships, skill count, alignment score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Standardised; 75/25 stratified split, fixed seed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Logistic regression vs XGBoost — higher held-out ROC AUC is kept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AUC chosen because staff need a ranking of who to help first</a:t>
            </a:r>
            <a:endParaRPr lang="en-US" sz="1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297680" y="1051560"/>
          <a:ext cx="4389120" cy="3474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Results at a glance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1920240" cy="201168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1463040"/>
            <a:ext cx="1645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0.947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24028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ROC AUC on real data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560320" y="1188720"/>
            <a:ext cx="1920240" cy="201168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2743200" y="1463040"/>
            <a:ext cx="1645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83.3%</a:t>
            </a:r>
            <a:endParaRPr lang="en-US" sz="3400" dirty="0"/>
          </a:p>
        </p:txBody>
      </p:sp>
      <p:sp>
        <p:nvSpPr>
          <p:cNvPr id="8" name="Text 6"/>
          <p:cNvSpPr txBox="1"/>
          <p:nvPr/>
        </p:nvSpPr>
        <p:spPr>
          <a:xfrm>
            <a:off x="2743200" y="224028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accuracy on real data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663440" y="1188720"/>
            <a:ext cx="1920240" cy="201168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846320" y="1463040"/>
            <a:ext cx="1645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99.2%</a:t>
            </a:r>
            <a:endParaRPr lang="en-US" sz="3400" dirty="0"/>
          </a:p>
        </p:txBody>
      </p:sp>
      <p:sp>
        <p:nvSpPr>
          <p:cNvPr id="11" name="Text 9"/>
          <p:cNvSpPr txBox="1"/>
          <p:nvPr/>
        </p:nvSpPr>
        <p:spPr>
          <a:xfrm>
            <a:off x="4846320" y="224028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skill-extraction precision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766560" y="1188720"/>
            <a:ext cx="1920240" cy="201168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949440" y="1463040"/>
            <a:ext cx="1645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accent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1,500</a:t>
            </a:r>
            <a:endParaRPr lang="en-US" sz="3400" dirty="0"/>
          </a:p>
        </p:txBody>
      </p:sp>
      <p:sp>
        <p:nvSpPr>
          <p:cNvPr id="14" name="Text 12"/>
          <p:cNvSpPr txBox="1"/>
          <p:nvPr/>
        </p:nvSpPr>
        <p:spPr>
          <a:xfrm>
            <a:off x="6949440" y="224028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real postings indexed and searchable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347472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Logistic regression selected; CGPA is the strongest predictor (coefficient 2.24), then internships (0.69)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Airflow DAG: all 4 tasks succeed in ~33 s  ·  Kafka: 10/10 streamed postings processed live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What drives placement in this data</a:t>
            </a:r>
            <a:endParaRPr lang="en-US" sz="28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457200" y="1051560"/>
          <a:ext cx="4937760" cy="3474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Shape 1"/>
          <p:cNvSpPr/>
          <p:nvPr/>
        </p:nvSpPr>
        <p:spPr>
          <a:xfrm>
            <a:off x="5669280" y="1143000"/>
            <a:ext cx="3017520" cy="3337560"/>
          </a:xfrm>
          <a:prstGeom prst="roundRect">
            <a:avLst>
              <a:gd name="adj" fmla="val 3636"/>
            </a:avLst>
          </a:prstGeom>
          <a:solidFill>
            <a:schemeClr val="bg2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5897880" y="128016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4"/>
                </a:solidFill>
              </a:rPr>
              <a:t>Honest reading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5897880" y="1737360"/>
            <a:ext cx="26517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Academics dominate — expected for this dataset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Projects and certifications are 0: not recorded in the source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Skill features are weak because skills were imputed, so the high AUC is not evidence that skills predict placement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Scenario: helping student S0001</a:t>
            </a:r>
            <a:endParaRPr lang="en-US" sz="2800" dirty="0"/>
          </a:p>
        </p:txBody>
      </p:sp>
      <p:pic>
        <p:nvPicPr>
          <p:cNvPr id="3" name="Image 0" descr="Scenario: helping student S0001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4504" y="914400"/>
            <a:ext cx="8254993" cy="352044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457200" y="440740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The next slides show each of these steps in the running dashboard.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Dashboard — Student 360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11480" y="1005840"/>
            <a:ext cx="5577840" cy="3529584"/>
          </a:xfrm>
          <a:prstGeom prst="roundRect">
            <a:avLst>
              <a:gd name="adj" fmla="val 1554"/>
            </a:avLst>
          </a:prstGeom>
          <a:solidFill>
            <a:schemeClr val="tx2"/>
          </a:solidFill>
          <a:ln/>
        </p:spPr>
      </p:sp>
      <p:pic>
        <p:nvPicPr>
          <p:cNvPr id="4" name="Image 0" descr="Dashboard — Student 360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51560"/>
            <a:ext cx="5486400" cy="34290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6217920" y="105156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One student, one page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6217920" y="1554480"/>
            <a:ext cx="24688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Placement probability gauge with risk tier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KPIs compared with the cohort median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Skill-coverage radar vs cohort average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Gaps ranked by market demand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Dashboard — What-if simulator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11480" y="1005840"/>
            <a:ext cx="5577840" cy="3529584"/>
          </a:xfrm>
          <a:prstGeom prst="roundRect">
            <a:avLst>
              <a:gd name="adj" fmla="val 1554"/>
            </a:avLst>
          </a:prstGeom>
          <a:solidFill>
            <a:schemeClr val="tx2"/>
          </a:solidFill>
          <a:ln/>
        </p:spPr>
      </p:sp>
      <p:pic>
        <p:nvPicPr>
          <p:cNvPr id="4" name="Image 0" descr="Dashboard — What-if simulato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51560"/>
            <a:ext cx="5486400" cy="34290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6217920" y="105156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Try a change, see the effect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6217920" y="1554480"/>
            <a:ext cx="24688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Edit CGPA, projects, internships or add skills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Probability and alignment recompute instantly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Ranks the single most useful skill to learn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6217920" y="393192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100" i="1" dirty="0">
                <a:solidFill>
                  <a:schemeClr val="accent6"/>
                </a:solidFill>
              </a:rPr>
              <a:t>On the real data, adding skills lowers the estimate — the dashboard says so and explains why, rather than hiding it.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Dashboard — Cohort analytics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11480" y="1005840"/>
            <a:ext cx="5577840" cy="3529584"/>
          </a:xfrm>
          <a:prstGeom prst="roundRect">
            <a:avLst>
              <a:gd name="adj" fmla="val 1554"/>
            </a:avLst>
          </a:prstGeom>
          <a:solidFill>
            <a:schemeClr val="tx2"/>
          </a:solidFill>
          <a:ln/>
        </p:spPr>
      </p:sp>
      <p:pic>
        <p:nvPicPr>
          <p:cNvPr id="4" name="Image 0" descr="Dashboard — Cohort analytic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51560"/>
            <a:ext cx="5486400" cy="34290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6217920" y="105156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Who needs help first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6217920" y="1554480"/>
            <a:ext cx="24688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Distribution of predicted probabilities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Alignment vs outlook for every student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Most common gaps across the cohort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Downloadable intervention list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Dashboard — Market pulse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11480" y="1005840"/>
            <a:ext cx="5577840" cy="3529584"/>
          </a:xfrm>
          <a:prstGeom prst="roundRect">
            <a:avLst>
              <a:gd name="adj" fmla="val 1554"/>
            </a:avLst>
          </a:prstGeom>
          <a:solidFill>
            <a:schemeClr val="tx2"/>
          </a:solidFill>
          <a:ln/>
        </p:spPr>
      </p:sp>
      <p:pic>
        <p:nvPicPr>
          <p:cNvPr id="4" name="Image 0" descr="Dashboard — Market puls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51560"/>
            <a:ext cx="5486400" cy="34290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6217920" y="105156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What employers ask for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6217920" y="1554480"/>
            <a:ext cx="24688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Top-N skills from 1,500 real postings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Demand grouped by skill category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Filter by job title (e.g. "Data", "Engineer")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Orchestration — Apache Airflow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11480" y="1005840"/>
            <a:ext cx="5577840" cy="3529584"/>
          </a:xfrm>
          <a:prstGeom prst="roundRect">
            <a:avLst>
              <a:gd name="adj" fmla="val 1554"/>
            </a:avLst>
          </a:prstGeom>
          <a:solidFill>
            <a:schemeClr val="tx2"/>
          </a:solidFill>
          <a:ln/>
        </p:spPr>
      </p:sp>
      <p:pic>
        <p:nvPicPr>
          <p:cNvPr id="4" name="Image 0" descr="Orchestration — Apache Airflow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51560"/>
            <a:ext cx="5486400" cy="34290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6217920" y="105156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One DAG, four tasks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6217920" y="1554480"/>
            <a:ext cx="24688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ingest → extract → features → train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Uses real data when present, synthetic otherwise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Verified green on real data, ~33 s per run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Dashboard — Data Studio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11480" y="1005840"/>
            <a:ext cx="5577840" cy="3529584"/>
          </a:xfrm>
          <a:prstGeom prst="roundRect">
            <a:avLst>
              <a:gd name="adj" fmla="val 1554"/>
            </a:avLst>
          </a:prstGeom>
          <a:solidFill>
            <a:schemeClr val="tx2"/>
          </a:solidFill>
          <a:ln/>
        </p:spPr>
      </p:sp>
      <p:pic>
        <p:nvPicPr>
          <p:cNvPr id="4" name="Image 0" descr="Dashboard — Data Studi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51560"/>
            <a:ext cx="5486400" cy="34290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6217920" y="105156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Bring your own data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6217920" y="1554480"/>
            <a:ext cx="24688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Upload postings and student CSVs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Validated: columns, numbers, duplicate IDs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Re-runs the pipeline with live progress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Development flow</a:t>
            </a:r>
            <a:endParaRPr lang="en-US" sz="2800" dirty="0"/>
          </a:p>
        </p:txBody>
      </p:sp>
      <p:pic>
        <p:nvPicPr>
          <p:cNvPr id="3" name="Image 0" descr="Development flow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959849"/>
            <a:ext cx="8595360" cy="3703862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Testing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188720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31</a:t>
            </a:r>
            <a:endParaRPr lang="en-US" sz="5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96596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automated tests, all passing on real data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3566160" y="1188720"/>
            <a:ext cx="51206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NLP extractor: casing, overlaps, empty text, ambiguous short names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Feature store: empty input, students without skills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Upload validation and training guards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Kafka message handling and S3 upload (no live services needed)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Every dashboard page rendered automatically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Bugs we found and fixed</a:t>
            </a:r>
            <a:endParaRPr lang="en-US" sz="280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51560"/>
          <a:ext cx="822960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3749040"/>
                <a:gridCol w="173736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Symptom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B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Root cause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B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Result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B4B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142B"/>
                          </a:solidFill>
                        </a:rPr>
                        <a:t>Extractor precision only 84.5%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0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142B"/>
                          </a:solidFill>
                        </a:rPr>
                        <a:t>Answer key missed soft skills; overlaps double-counted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0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E9F6E"/>
                          </a:solidFill>
                        </a:rPr>
                        <a:t>99.2%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0FB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142B"/>
                          </a:solidFill>
                        </a:rPr>
                        <a:t>Airflow overwrote real data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142B"/>
                          </a:solidFill>
                        </a:rPr>
                        <a:t>Ingest always generated synthetic data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E9F6E"/>
                          </a:solidFill>
                        </a:rPr>
                        <a:t>Prefers real data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142B"/>
                          </a:solidFill>
                        </a:rPr>
                        <a:t>15 postings not searchable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0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142B"/>
                          </a:solidFill>
                        </a:rPr>
                        <a:t>Missing company sent as NaN (invalid JSON)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0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E9F6E"/>
                          </a:solidFill>
                        </a:rPr>
                        <a:t>1,500 / 1,500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0FB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142B"/>
                          </a:solidFill>
                        </a:rPr>
                        <a:t>Dashboard crash after Airflow run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142B"/>
                          </a:solidFill>
                        </a:rPr>
                        <a:t>Different scikit-learn in Airflow vs local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E9F6E"/>
                          </a:solidFill>
                        </a:rPr>
                        <a:t>Versions pinned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142B"/>
                          </a:solidFill>
                        </a:rPr>
                        <a:t>Fresh install couldn't search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0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142B"/>
                          </a:solidFill>
                        </a:rPr>
                        <a:t>Unpinned client v9 vs Elasticsearch 8 server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0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E9F6E"/>
                          </a:solidFill>
                        </a:rPr>
                        <a:t>Client pinned to v8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0FB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Limitations and future work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143000"/>
            <a:ext cx="3977640" cy="2743200"/>
          </a:xfrm>
          <a:prstGeom prst="roundRect">
            <a:avLst>
              <a:gd name="adj" fmla="val 4000"/>
            </a:avLst>
          </a:prstGeom>
          <a:solidFill>
            <a:schemeClr val="bg2"/>
          </a:solidFill>
          <a:ln/>
        </p:spPr>
      </p:sp>
      <p:sp>
        <p:nvSpPr>
          <p:cNvPr id="4" name="Shape 2"/>
          <p:cNvSpPr/>
          <p:nvPr/>
        </p:nvSpPr>
        <p:spPr>
          <a:xfrm>
            <a:off x="4709160" y="1143000"/>
            <a:ext cx="3977640" cy="2743200"/>
          </a:xfrm>
          <a:prstGeom prst="roundRect">
            <a:avLst>
              <a:gd name="adj" fmla="val 4000"/>
            </a:avLst>
          </a:prstGeom>
          <a:solidFill>
            <a:schemeClr val="bg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31520" y="128016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3"/>
                </a:solidFill>
              </a:rPr>
              <a:t>Limitations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1783080"/>
            <a:ext cx="35204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Real student skills were imputed, not recorded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Taxonomy misses new or unusual skill names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Demand not split by region or seniority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4983480" y="128016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2"/>
                </a:solidFill>
              </a:rPr>
              <a:t>Future work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4983480" y="1783080"/>
            <a:ext cx="35204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Collect real student skills via upload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Learned skill-NER on annotated postings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Spark + Delta Lake for larger volumes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Track a full placement season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Conclusion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2606040" cy="2377440"/>
          </a:xfrm>
          <a:prstGeom prst="roundRect">
            <a:avLst>
              <a:gd name="adj" fmla="val 4615"/>
            </a:avLst>
          </a:prstGeom>
          <a:solidFill>
            <a:schemeClr val="bg2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1417320"/>
            <a:ext cx="457200" cy="45720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31520" y="1417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✓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01168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Works end to end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2468880"/>
            <a:ext cx="2103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Postings → skills → gaps → prediction → dashboard, on real data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246120" y="1188720"/>
            <a:ext cx="2606040" cy="2377440"/>
          </a:xfrm>
          <a:prstGeom prst="roundRect">
            <a:avLst>
              <a:gd name="adj" fmla="val 4615"/>
            </a:avLst>
          </a:prstGeom>
          <a:solidFill>
            <a:schemeClr val="bg2"/>
          </a:solidFill>
          <a:ln/>
        </p:spPr>
      </p:sp>
      <p:sp>
        <p:nvSpPr>
          <p:cNvPr id="9" name="Shape 7"/>
          <p:cNvSpPr/>
          <p:nvPr/>
        </p:nvSpPr>
        <p:spPr>
          <a:xfrm>
            <a:off x="3520440" y="141732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3520440" y="1417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✓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3520440" y="201168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Strong, honest results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3520440" y="2468880"/>
            <a:ext cx="2103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AUC 0.947, accuracy 83.3%, with clearly stated limits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035040" y="1188720"/>
            <a:ext cx="2606040" cy="2377440"/>
          </a:xfrm>
          <a:prstGeom prst="roundRect">
            <a:avLst>
              <a:gd name="adj" fmla="val 4615"/>
            </a:avLst>
          </a:prstGeom>
          <a:solidFill>
            <a:schemeClr val="bg2"/>
          </a:solidFill>
          <a:ln/>
        </p:spPr>
      </p:sp>
      <p:sp>
        <p:nvSpPr>
          <p:cNvPr id="14" name="Shape 12"/>
          <p:cNvSpPr/>
          <p:nvPr/>
        </p:nvSpPr>
        <p:spPr>
          <a:xfrm>
            <a:off x="6309360" y="1417320"/>
            <a:ext cx="457200" cy="457200"/>
          </a:xfrm>
          <a:prstGeom prst="ellipse">
            <a:avLst/>
          </a:prstGeom>
          <a:solidFill>
            <a:schemeClr val="accent5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309360" y="1417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✓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6309360" y="201168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Real big-data stack</a:t>
            </a:r>
            <a:endParaRPr lang="en-US" sz="1700" dirty="0"/>
          </a:p>
        </p:txBody>
      </p:sp>
      <p:sp>
        <p:nvSpPr>
          <p:cNvPr id="17" name="Text 15"/>
          <p:cNvSpPr txBox="1"/>
          <p:nvPr/>
        </p:nvSpPr>
        <p:spPr>
          <a:xfrm>
            <a:off x="6309360" y="2468880"/>
            <a:ext cx="2103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Kafka, Airflow and Elasticsearch verified live; S3 upload covered by tests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457200" y="39319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accent1"/>
                </a:solidFill>
              </a:rPr>
              <a:t>Source code: github.com/Vikram5002/Equilearn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188720"/>
            <a:ext cx="8046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800" b="1" dirty="0">
                <a:solidFill>
                  <a:schemeClr val="bg1"/>
                </a:solidFill>
              </a:rPr>
              <a:t>Thank you</a:t>
            </a:r>
            <a:endParaRPr lang="en-US" sz="3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834640"/>
            <a:ext cx="80467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chemeClr val="bg2"/>
                </a:solidFill>
              </a:rPr>
              <a:t>Questions?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chemeClr val="bg2"/>
                </a:solidFill>
              </a:rPr>
              <a:t> </a:t>
            </a:r>
            <a:endParaRPr lang="en-US" sz="1600" dirty="0"/>
          </a:p>
          <a:p>
            <a:pPr algn="l" indent="0" marL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Vikram  ·  Jahnavy  ·  Jansi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chemeClr val="bg2"/>
                </a:solidFill>
              </a:rPr>
              <a:t>github.com/Vikram5002/Equilearn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killBridge">
  <a:themeElements>
    <a:clrScheme name="SkillBridge">
      <a:dk1>
        <a:srgbClr val="14142B"/>
      </a:dk1>
      <a:lt1>
        <a:srgbClr val="FFFFFF"/>
      </a:lt1>
      <a:dk2>
        <a:srgbClr val="1E1B4B"/>
      </a:dk2>
      <a:lt2>
        <a:srgbClr val="F1F0FB"/>
      </a:lt2>
      <a:accent1>
        <a:srgbClr val="5B3DF5"/>
      </a:accent1>
      <a:accent2>
        <a:srgbClr val="0E9F6E"/>
      </a:accent2>
      <a:accent3>
        <a:srgbClr val="E02454"/>
      </a:accent3>
      <a:accent4>
        <a:srgbClr val="D97706"/>
      </a:accent4>
      <a:accent5>
        <a:srgbClr val="0284C7"/>
      </a:accent5>
      <a:accent6>
        <a:srgbClr val="64748B"/>
      </a:accent6>
      <a:hlink>
        <a:srgbClr val="5B3DF5"/>
      </a:hlink>
      <a:folHlink>
        <a:srgbClr val="6D28D9"/>
      </a:folHlink>
    </a:clrScheme>
    <a:fontScheme name="SkillBridg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SkillBridge Analytics — Project Evaluation</dc:title>
  <dc:subject>PptxGenJS Presentation</dc:subject>
  <dc:creator>Vikram, Jahnavy, Jansi</dc:creator>
  <cp:lastModifiedBy>Vikram, Jahnavy, Jansi</cp:lastModifiedBy>
  <cp:revision>1</cp:revision>
  <dcterms:created xsi:type="dcterms:W3CDTF">2026-10-21T05:18:01Z</dcterms:created>
  <dcterms:modified xsi:type="dcterms:W3CDTF">2026-10-21T05:18:01Z</dcterms:modified>
</cp:coreProperties>
</file>